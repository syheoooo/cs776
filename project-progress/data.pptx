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82"/>
    <p:restoredTop sz="94694"/>
  </p:normalViewPr>
  <p:slideViewPr>
    <p:cSldViewPr snapToGrid="0">
      <p:cViewPr varScale="1">
        <p:scale>
          <a:sx n="118" d="100"/>
          <a:sy n="118" d="100"/>
        </p:scale>
        <p:origin x="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E329-0532-27DF-6CA9-C8297BE64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5D25A-ACDC-BF71-5A54-2FE6D0DD0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A75C1-BAB6-B429-7678-A2715A52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35C8C-5CE7-FED4-A9B6-F5C6E386E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99843-34BC-E526-C48A-C9494862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69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F6EA-223D-9DCD-4861-B368FEDE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804F-0131-E65A-3987-7D2582DA8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6B91-A2C8-A38E-3D4B-B398CF066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9A3EA-4BF1-1DE1-7D54-8AFE96DC1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31481-3017-84ED-1765-813C402C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2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E85E-28BF-94AA-D68E-67D997A4D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CA666-9E00-F778-5FBB-56CB4D636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36ACD-16EF-9FAF-04F9-12D1267B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DD372-B80A-25C6-509D-2AACD86C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E517-FC01-3B0F-DBB1-0E104FD4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3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4A6B-9077-BA6A-093D-17509435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30D7D-544C-8B5B-6256-ABCC92825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173BA-3D57-CDAC-AE1A-B9DBEED75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C629F-0734-1487-2A51-73D69A0B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88F63-3D8B-C36E-A825-1BEC55CF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EC9AB-20D2-88B6-936E-CDF12865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9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C77C-8C41-B892-C4E4-B5E78DF4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00DC2-9216-669A-390D-E0C469B1C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86C21-F1CE-695D-24DA-7EFF14DEA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D2581-F80E-B558-FC6C-0271F4CA8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34C30-ED21-523A-501C-AFC6F1A45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BC760-5B73-3997-38EC-5D0C59AC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BA143-FB66-343B-187A-88B530BDA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79DC6-4688-6EF0-C03A-8F43F4CF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1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CFB7-8E83-0BE7-14A9-3E316573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1C45B-A533-1DB0-E043-40435D4D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F4D45-9DDD-DB67-8082-7B68FD67F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BF4CA-69D2-4EFB-B055-BBCF0FB3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32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9EA09-42AE-BF8D-47E0-50FD733E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02613-A4C6-F4AA-9AAA-D35C3D484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63DB8-A1FD-5105-3841-5C878EA0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CC91-D74B-D166-D787-48746702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FE411-C068-66FE-5F29-91CF6AF70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D3575-085C-252B-BF7B-C81BC49E2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97D3C-A15E-C506-5E4D-79D7D8E7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5EFED-0663-2BB7-DE69-6F04055C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C189D-0178-BDFB-E305-95DA217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10DF-E5DE-37F7-3963-CE28C4F2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907A5-A640-8E1A-59A5-59B3A829D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093BB-A2E0-E044-667E-EA08631D1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101E1-0BE6-B9CB-826A-DCCCDAE5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00056-CA9D-2152-6D1F-31B96927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798BF-D825-E1C6-C9EE-16DAFFF6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1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F618-1858-E001-3E81-30B4FE11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CC443-B366-76AE-8EE7-4EA32EDEA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1215-74CB-D891-C8C8-B26B41C46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63781-A29B-4071-FD02-515FE839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31941-24B7-B474-4316-9B11AE3D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4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AB9FE5-8F01-49B5-B1DD-7D0828CFF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AA118-0E3F-0087-F5A6-167F947FE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49C3C-E971-F45B-E6D0-99538A05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22E6F-2123-399D-10C1-30300F6E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00D30-A99F-F2E6-88E2-323939A1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5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BCB9F-9DC6-E823-576B-1633E1843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3326E-43D7-80BB-ECCD-E999796F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97968-74CA-E122-BA40-093ADFD51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ED209-3868-1D44-A018-BDDDB945E71A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59534-57C8-6FB4-889B-13ECDD35E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A9C39-20DB-A89B-31AC-CC88DC061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762A2-E78C-634E-8743-BEA17E79F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8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8C067-5BB2-A672-5F10-F4B65DFD1AB7}"/>
              </a:ext>
            </a:extLst>
          </p:cNvPr>
          <p:cNvSpPr txBox="1"/>
          <p:nvPr/>
        </p:nvSpPr>
        <p:spPr>
          <a:xfrm>
            <a:off x="345057" y="224287"/>
            <a:ext cx="6159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Milk production traits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31B2E-A24E-2225-FE5C-7C1D8D39AB9D}"/>
              </a:ext>
            </a:extLst>
          </p:cNvPr>
          <p:cNvSpPr txBox="1"/>
          <p:nvPr/>
        </p:nvSpPr>
        <p:spPr>
          <a:xfrm>
            <a:off x="508958" y="974785"/>
            <a:ext cx="873855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Basic milk composition</a:t>
            </a:r>
          </a:p>
          <a:p>
            <a:endParaRPr lang="en-US" dirty="0"/>
          </a:p>
          <a:p>
            <a:pPr lvl="1"/>
            <a:r>
              <a:rPr lang="en-US" dirty="0" err="1"/>
              <a:t>Fat.csv</a:t>
            </a:r>
            <a:r>
              <a:rPr lang="en-US" dirty="0"/>
              <a:t> - Grasso (Fat %) </a:t>
            </a:r>
          </a:p>
          <a:p>
            <a:pPr lvl="1"/>
            <a:r>
              <a:rPr lang="en-US" dirty="0" err="1"/>
              <a:t>Protein.csv</a:t>
            </a:r>
            <a:r>
              <a:rPr lang="en-US" dirty="0"/>
              <a:t> - </a:t>
            </a:r>
            <a:r>
              <a:rPr lang="en-US" dirty="0" err="1"/>
              <a:t>Proteine</a:t>
            </a:r>
            <a:r>
              <a:rPr lang="en-US" dirty="0"/>
              <a:t> (Protein %) </a:t>
            </a:r>
          </a:p>
          <a:p>
            <a:pPr lvl="1"/>
            <a:r>
              <a:rPr lang="en-US" dirty="0" err="1"/>
              <a:t>Lactose.csv</a:t>
            </a:r>
            <a:r>
              <a:rPr lang="en-US" dirty="0"/>
              <a:t> - </a:t>
            </a:r>
            <a:r>
              <a:rPr lang="en-US" dirty="0" err="1"/>
              <a:t>Lattosio</a:t>
            </a:r>
            <a:r>
              <a:rPr lang="en-US" dirty="0"/>
              <a:t> (Lactose %) </a:t>
            </a:r>
          </a:p>
          <a:p>
            <a:pPr lvl="1"/>
            <a:r>
              <a:rPr lang="en-US" dirty="0" err="1"/>
              <a:t>Casein.csv</a:t>
            </a:r>
            <a:r>
              <a:rPr lang="en-US" dirty="0"/>
              <a:t> - </a:t>
            </a:r>
            <a:r>
              <a:rPr lang="en-US" dirty="0" err="1"/>
              <a:t>Caseina</a:t>
            </a:r>
            <a:r>
              <a:rPr lang="en-US" dirty="0"/>
              <a:t> (Casein %)</a:t>
            </a:r>
          </a:p>
          <a:p>
            <a:pPr lvl="1"/>
            <a:endParaRPr lang="en-US" dirty="0"/>
          </a:p>
          <a:p>
            <a:r>
              <a:rPr lang="en-US" sz="2000" dirty="0"/>
              <a:t>Fatty acid profile</a:t>
            </a:r>
          </a:p>
          <a:p>
            <a:endParaRPr lang="en-US" dirty="0"/>
          </a:p>
          <a:p>
            <a:pPr lvl="1"/>
            <a:r>
              <a:rPr lang="en-US" dirty="0"/>
              <a:t>Saturated Fatty acid (SFA).csv - </a:t>
            </a:r>
            <a:r>
              <a:rPr lang="en-US" dirty="0" err="1"/>
              <a:t>Acidi</a:t>
            </a:r>
            <a:r>
              <a:rPr lang="en-US" dirty="0"/>
              <a:t> Grassi </a:t>
            </a:r>
            <a:r>
              <a:rPr lang="en-US" dirty="0" err="1"/>
              <a:t>Saturi</a:t>
            </a:r>
            <a:r>
              <a:rPr lang="en-US" dirty="0"/>
              <a:t> </a:t>
            </a:r>
            <a:r>
              <a:rPr lang="en-US" dirty="0" err="1"/>
              <a:t>Totali</a:t>
            </a:r>
            <a:r>
              <a:rPr lang="en-US" dirty="0"/>
              <a:t> (SFA) </a:t>
            </a:r>
          </a:p>
          <a:p>
            <a:pPr lvl="1"/>
            <a:r>
              <a:rPr lang="en-US" dirty="0"/>
              <a:t>Total unsaturated Fatty Acid (UFA).csv - </a:t>
            </a:r>
            <a:r>
              <a:rPr lang="en-US" dirty="0" err="1"/>
              <a:t>Acidi</a:t>
            </a:r>
            <a:r>
              <a:rPr lang="en-US" dirty="0"/>
              <a:t> Grassi </a:t>
            </a:r>
            <a:r>
              <a:rPr lang="en-US" dirty="0" err="1"/>
              <a:t>Insaturi</a:t>
            </a:r>
            <a:r>
              <a:rPr lang="en-US" dirty="0"/>
              <a:t> </a:t>
            </a:r>
            <a:r>
              <a:rPr lang="en-US" dirty="0" err="1"/>
              <a:t>Totali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Newly </a:t>
            </a:r>
            <a:r>
              <a:rPr lang="en-US" dirty="0" err="1"/>
              <a:t>synthesised</a:t>
            </a:r>
            <a:r>
              <a:rPr lang="en-US" dirty="0"/>
              <a:t> fatty </a:t>
            </a:r>
            <a:r>
              <a:rPr lang="en-US" dirty="0" err="1"/>
              <a:t>acids.csv</a:t>
            </a:r>
            <a:r>
              <a:rPr lang="en-US" dirty="0"/>
              <a:t> - </a:t>
            </a:r>
            <a:r>
              <a:rPr lang="en-US" dirty="0" err="1"/>
              <a:t>Acidi</a:t>
            </a:r>
            <a:r>
              <a:rPr lang="en-US" dirty="0"/>
              <a:t> Grassi de novo </a:t>
            </a:r>
          </a:p>
          <a:p>
            <a:pPr lvl="1"/>
            <a:r>
              <a:rPr lang="en-US" dirty="0"/>
              <a:t>Mixed Fatty </a:t>
            </a:r>
            <a:r>
              <a:rPr lang="en-US" dirty="0" err="1"/>
              <a:t>Acids.csv</a:t>
            </a:r>
            <a:r>
              <a:rPr lang="en-US" dirty="0"/>
              <a:t> - </a:t>
            </a:r>
            <a:r>
              <a:rPr lang="en-US" dirty="0" err="1"/>
              <a:t>Acidi</a:t>
            </a:r>
            <a:r>
              <a:rPr lang="en-US" dirty="0"/>
              <a:t> Grassi Misti </a:t>
            </a:r>
          </a:p>
          <a:p>
            <a:pPr lvl="1"/>
            <a:r>
              <a:rPr lang="en-US" dirty="0"/>
              <a:t>Preformed Fatty </a:t>
            </a:r>
            <a:r>
              <a:rPr lang="en-US" dirty="0" err="1"/>
              <a:t>Acids.csv</a:t>
            </a:r>
            <a:r>
              <a:rPr lang="en-US" dirty="0"/>
              <a:t> - </a:t>
            </a:r>
            <a:r>
              <a:rPr lang="en-US" dirty="0" err="1"/>
              <a:t>Acidi</a:t>
            </a:r>
            <a:r>
              <a:rPr lang="en-US" dirty="0"/>
              <a:t> Grassi </a:t>
            </a:r>
            <a:r>
              <a:rPr lang="en-US" dirty="0" err="1"/>
              <a:t>Preformati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Stearic Acid (C18_0).csv - </a:t>
            </a:r>
            <a:r>
              <a:rPr lang="en-US" dirty="0" err="1"/>
              <a:t>Acido</a:t>
            </a:r>
            <a:r>
              <a:rPr lang="en-US" dirty="0"/>
              <a:t> </a:t>
            </a:r>
            <a:r>
              <a:rPr lang="en-US" dirty="0" err="1"/>
              <a:t>Stearico</a:t>
            </a:r>
            <a:r>
              <a:rPr lang="en-US" dirty="0"/>
              <a:t> (C18:0) </a:t>
            </a:r>
          </a:p>
          <a:p>
            <a:pPr lvl="1"/>
            <a:r>
              <a:rPr lang="en-US" dirty="0"/>
              <a:t>Vaccenic acid (C18_1).csv - </a:t>
            </a:r>
            <a:r>
              <a:rPr lang="en-US" dirty="0" err="1"/>
              <a:t>Acido</a:t>
            </a:r>
            <a:r>
              <a:rPr lang="en-US" dirty="0"/>
              <a:t> </a:t>
            </a:r>
            <a:r>
              <a:rPr lang="en-US" dirty="0" err="1"/>
              <a:t>Vaccenico</a:t>
            </a:r>
            <a:r>
              <a:rPr lang="en-US" dirty="0"/>
              <a:t> (C18:1)</a:t>
            </a:r>
          </a:p>
        </p:txBody>
      </p:sp>
    </p:spTree>
    <p:extLst>
      <p:ext uri="{BB962C8B-B14F-4D97-AF65-F5344CB8AC3E}">
        <p14:creationId xmlns:p14="http://schemas.microsoft.com/office/powerpoint/2010/main" val="131641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C75A-944B-59FC-133E-A97E4F16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02052D-AEE0-9693-9897-15A189264EB8}"/>
              </a:ext>
            </a:extLst>
          </p:cNvPr>
          <p:cNvSpPr txBox="1"/>
          <p:nvPr/>
        </p:nvSpPr>
        <p:spPr>
          <a:xfrm>
            <a:off x="345057" y="224287"/>
            <a:ext cx="6159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Milk production traits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B7792-E648-8E93-116F-B770DBBBFEFB}"/>
              </a:ext>
            </a:extLst>
          </p:cNvPr>
          <p:cNvSpPr txBox="1"/>
          <p:nvPr/>
        </p:nvSpPr>
        <p:spPr>
          <a:xfrm>
            <a:off x="508958" y="974785"/>
            <a:ext cx="873855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Milk quality &amp; cheese-making properties</a:t>
            </a:r>
          </a:p>
          <a:p>
            <a:endParaRPr lang="en-US" dirty="0"/>
          </a:p>
          <a:p>
            <a:pPr lvl="1"/>
            <a:r>
              <a:rPr lang="en-US" dirty="0" err="1"/>
              <a:t>PH.csv</a:t>
            </a:r>
            <a:r>
              <a:rPr lang="en-US" dirty="0"/>
              <a:t> - pH </a:t>
            </a:r>
          </a:p>
          <a:p>
            <a:pPr lvl="1"/>
            <a:r>
              <a:rPr lang="en-US" dirty="0"/>
              <a:t>Freezing </a:t>
            </a:r>
            <a:r>
              <a:rPr lang="en-US" dirty="0" err="1"/>
              <a:t>Point.csv</a:t>
            </a:r>
            <a:r>
              <a:rPr lang="en-US" dirty="0"/>
              <a:t> - </a:t>
            </a:r>
            <a:r>
              <a:rPr lang="en-US" dirty="0" err="1"/>
              <a:t>Crioscopia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Citric </a:t>
            </a:r>
            <a:r>
              <a:rPr lang="en-US" dirty="0" err="1"/>
              <a:t>Acid.csv</a:t>
            </a:r>
            <a:r>
              <a:rPr lang="en-US" dirty="0"/>
              <a:t> - </a:t>
            </a:r>
            <a:r>
              <a:rPr lang="en-US" dirty="0" err="1"/>
              <a:t>Acido</a:t>
            </a:r>
            <a:r>
              <a:rPr lang="en-US" dirty="0"/>
              <a:t> </a:t>
            </a:r>
            <a:r>
              <a:rPr lang="en-US" dirty="0" err="1"/>
              <a:t>Citrico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Rennet Coagulation time (R).csv - Tempo di </a:t>
            </a:r>
            <a:r>
              <a:rPr lang="en-US" dirty="0" err="1"/>
              <a:t>coagulazione</a:t>
            </a:r>
            <a:r>
              <a:rPr lang="en-US" dirty="0"/>
              <a:t> (R) </a:t>
            </a:r>
          </a:p>
          <a:p>
            <a:pPr lvl="1"/>
            <a:r>
              <a:rPr lang="en-US" dirty="0"/>
              <a:t>Time to curd firmness (K20).csv - Tempo di </a:t>
            </a:r>
            <a:r>
              <a:rPr lang="en-US" dirty="0" err="1"/>
              <a:t>rassodamento</a:t>
            </a:r>
            <a:r>
              <a:rPr lang="en-US" dirty="0"/>
              <a:t> del </a:t>
            </a:r>
            <a:r>
              <a:rPr lang="en-US" dirty="0" err="1"/>
              <a:t>coagulo</a:t>
            </a:r>
            <a:r>
              <a:rPr lang="en-US" dirty="0"/>
              <a:t> (K20) </a:t>
            </a:r>
          </a:p>
          <a:p>
            <a:pPr lvl="1"/>
            <a:r>
              <a:rPr lang="en-US" dirty="0"/>
              <a:t>Time to curd firmness (A30).csv - </a:t>
            </a:r>
            <a:r>
              <a:rPr lang="en-US" dirty="0" err="1"/>
              <a:t>Consistenza</a:t>
            </a:r>
            <a:r>
              <a:rPr lang="en-US" dirty="0"/>
              <a:t> del </a:t>
            </a:r>
            <a:r>
              <a:rPr lang="en-US" dirty="0" err="1"/>
              <a:t>coagulo</a:t>
            </a:r>
            <a:r>
              <a:rPr lang="en-US" dirty="0"/>
              <a:t> (A30) </a:t>
            </a:r>
          </a:p>
          <a:p>
            <a:pPr lvl="1"/>
            <a:r>
              <a:rPr lang="en-US" dirty="0"/>
              <a:t>Index of dairy attitude (IAC).csv - </a:t>
            </a:r>
            <a:r>
              <a:rPr lang="en-US" dirty="0" err="1"/>
              <a:t>Indice</a:t>
            </a:r>
            <a:r>
              <a:rPr lang="en-US" dirty="0"/>
              <a:t> </a:t>
            </a:r>
            <a:r>
              <a:rPr lang="en-US" dirty="0" err="1"/>
              <a:t>attitudine</a:t>
            </a:r>
            <a:r>
              <a:rPr lang="en-US" dirty="0"/>
              <a:t> </a:t>
            </a:r>
            <a:r>
              <a:rPr lang="en-US" dirty="0" err="1"/>
              <a:t>casearia</a:t>
            </a:r>
            <a:r>
              <a:rPr lang="en-US" dirty="0"/>
              <a:t> (IAC)</a:t>
            </a:r>
          </a:p>
        </p:txBody>
      </p:sp>
    </p:spTree>
    <p:extLst>
      <p:ext uri="{BB962C8B-B14F-4D97-AF65-F5344CB8AC3E}">
        <p14:creationId xmlns:p14="http://schemas.microsoft.com/office/powerpoint/2010/main" val="4781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2947B-70B9-952D-E22D-54B9EE27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5555BD-2CCB-A668-1926-4F9511E177AF}"/>
              </a:ext>
            </a:extLst>
          </p:cNvPr>
          <p:cNvSpPr txBox="1"/>
          <p:nvPr/>
        </p:nvSpPr>
        <p:spPr>
          <a:xfrm>
            <a:off x="345057" y="224287"/>
            <a:ext cx="6159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Health &amp; Metabolic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F1166-8D1A-4B3D-B769-5DEAE120FDFE}"/>
              </a:ext>
            </a:extLst>
          </p:cNvPr>
          <p:cNvSpPr txBox="1"/>
          <p:nvPr/>
        </p:nvSpPr>
        <p:spPr>
          <a:xfrm>
            <a:off x="508958" y="974785"/>
            <a:ext cx="102999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Somatic Cells Count (SCC).csv - (Mastitis indicator) </a:t>
            </a:r>
          </a:p>
          <a:p>
            <a:r>
              <a:rPr lang="en-US" sz="2000" dirty="0"/>
              <a:t>Somatic Cells </a:t>
            </a:r>
            <a:r>
              <a:rPr lang="en-US" sz="2000" dirty="0" err="1"/>
              <a:t>Index.csv</a:t>
            </a:r>
            <a:r>
              <a:rPr lang="en-US" sz="2000" dirty="0"/>
              <a:t> </a:t>
            </a:r>
          </a:p>
          <a:p>
            <a:r>
              <a:rPr lang="en-US" sz="2000" dirty="0"/>
              <a:t>DISCC </a:t>
            </a:r>
            <a:r>
              <a:rPr lang="en-US" sz="2000" dirty="0" err="1"/>
              <a:t>analysis.csv</a:t>
            </a:r>
            <a:r>
              <a:rPr lang="en-US" sz="2000" dirty="0"/>
              <a:t> - (Differential somatic cell count) </a:t>
            </a:r>
          </a:p>
          <a:p>
            <a:r>
              <a:rPr lang="el-GR" sz="2000" dirty="0"/>
              <a:t>β-</a:t>
            </a:r>
            <a:r>
              <a:rPr lang="en-US" sz="2000" dirty="0"/>
              <a:t>hydroxybutyrate (BHBA).csv - </a:t>
            </a:r>
            <a:r>
              <a:rPr lang="en-US" sz="2000" dirty="0" err="1"/>
              <a:t>ß-idrossibutirrato</a:t>
            </a:r>
            <a:r>
              <a:rPr lang="en-US" sz="2000" dirty="0"/>
              <a:t> (BHBA) (Ketosis indicator) </a:t>
            </a:r>
          </a:p>
          <a:p>
            <a:r>
              <a:rPr lang="en-US" sz="2000" dirty="0" err="1"/>
              <a:t>Acetone.csv</a:t>
            </a:r>
            <a:r>
              <a:rPr lang="en-US" sz="2000" dirty="0"/>
              <a:t> - Acetone (Ketosis indicator) </a:t>
            </a:r>
          </a:p>
          <a:p>
            <a:r>
              <a:rPr lang="en-US" sz="2000" dirty="0" err="1"/>
              <a:t>Urea.csv</a:t>
            </a:r>
            <a:r>
              <a:rPr lang="en-US" sz="2000" dirty="0"/>
              <a:t> - Urea (Nutritional indicator) </a:t>
            </a:r>
          </a:p>
          <a:p>
            <a:r>
              <a:rPr lang="en-US" sz="2000" dirty="0"/>
              <a:t>Electrical </a:t>
            </a:r>
            <a:r>
              <a:rPr lang="en-US" sz="2000" dirty="0" err="1"/>
              <a:t>conductivity.csv</a:t>
            </a:r>
            <a:r>
              <a:rPr lang="en-US" sz="2000" dirty="0"/>
              <a:t> (Mastitis early warning) </a:t>
            </a:r>
          </a:p>
          <a:p>
            <a:r>
              <a:rPr lang="en-US" sz="2000" dirty="0"/>
              <a:t>Average </a:t>
            </a:r>
            <a:r>
              <a:rPr lang="en-US" sz="2000" dirty="0" err="1"/>
              <a:t>conductivity.csv</a:t>
            </a:r>
            <a:r>
              <a:rPr lang="en-US" sz="2000" dirty="0"/>
              <a:t> </a:t>
            </a:r>
          </a:p>
          <a:p>
            <a:r>
              <a:rPr lang="en-US" sz="2000" dirty="0"/>
              <a:t>Milk IBR </a:t>
            </a:r>
            <a:r>
              <a:rPr lang="en-US" sz="2000" dirty="0" err="1"/>
              <a:t>analysis.csv</a:t>
            </a:r>
            <a:r>
              <a:rPr lang="en-US" sz="2000" dirty="0"/>
              <a:t> - </a:t>
            </a:r>
            <a:r>
              <a:rPr lang="en-US" sz="2000" dirty="0" err="1"/>
              <a:t>Ibr</a:t>
            </a:r>
            <a:r>
              <a:rPr lang="en-US" sz="2000" dirty="0"/>
              <a:t> (Infectious Bovine Rhinotracheitis)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963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920E-D9F6-7B1E-7317-3DB31B8C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3E6F92-69F2-CEF0-0BD9-381097498C86}"/>
              </a:ext>
            </a:extLst>
          </p:cNvPr>
          <p:cNvSpPr txBox="1"/>
          <p:nvPr/>
        </p:nvSpPr>
        <p:spPr>
          <a:xfrm>
            <a:off x="345057" y="224287"/>
            <a:ext cx="6159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Reproductive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32E47-84A4-307B-2A5B-80D4AB8137CC}"/>
              </a:ext>
            </a:extLst>
          </p:cNvPr>
          <p:cNvSpPr txBox="1"/>
          <p:nvPr/>
        </p:nvSpPr>
        <p:spPr>
          <a:xfrm>
            <a:off x="508958" y="974785"/>
            <a:ext cx="102999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Insemination.csv</a:t>
            </a:r>
            <a:r>
              <a:rPr lang="en-US" sz="2000" dirty="0"/>
              <a:t> </a:t>
            </a:r>
          </a:p>
          <a:p>
            <a:r>
              <a:rPr lang="en-US" sz="2000" dirty="0"/>
              <a:t>Pregnancy </a:t>
            </a:r>
            <a:r>
              <a:rPr lang="en-US" sz="2000" dirty="0" err="1"/>
              <a:t>Diagnosis.csv</a:t>
            </a:r>
            <a:endParaRPr lang="en-US" sz="2000" dirty="0"/>
          </a:p>
          <a:p>
            <a:r>
              <a:rPr lang="en-US" sz="2000" dirty="0"/>
              <a:t>Progesterone Milk </a:t>
            </a:r>
            <a:r>
              <a:rPr lang="en-US" sz="2000" dirty="0" err="1"/>
              <a:t>Analysis.csv</a:t>
            </a:r>
            <a:endParaRPr lang="en-US" sz="2000" dirty="0"/>
          </a:p>
          <a:p>
            <a:r>
              <a:rPr lang="en-US" sz="2000" dirty="0" err="1"/>
              <a:t>Calving.csv</a:t>
            </a:r>
            <a:endParaRPr lang="en-US" sz="2000" dirty="0"/>
          </a:p>
          <a:p>
            <a:r>
              <a:rPr lang="en-US" sz="2000" dirty="0"/>
              <a:t>Dry </a:t>
            </a:r>
            <a:r>
              <a:rPr lang="en-US" sz="2000" dirty="0" err="1"/>
              <a:t>Period.csv</a:t>
            </a:r>
            <a:r>
              <a:rPr lang="en-US" sz="2000" dirty="0"/>
              <a:t> </a:t>
            </a:r>
          </a:p>
          <a:p>
            <a:r>
              <a:rPr lang="en-US" sz="2000" dirty="0"/>
              <a:t>Days Open </a:t>
            </a:r>
            <a:r>
              <a:rPr lang="en-US" sz="2000" dirty="0" err="1"/>
              <a:t>Index.csv</a:t>
            </a:r>
            <a:endParaRPr lang="en-US" sz="2000" dirty="0"/>
          </a:p>
          <a:p>
            <a:r>
              <a:rPr lang="en-US" sz="2000" dirty="0"/>
              <a:t>Calving Interval </a:t>
            </a:r>
            <a:r>
              <a:rPr lang="en-US" sz="2000" dirty="0" err="1"/>
              <a:t>index.csv</a:t>
            </a:r>
            <a:r>
              <a:rPr lang="en-US" sz="20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26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2CE1-C09C-3167-D6BA-CBEC9305E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17" y="9112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Features: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Milk composition (Protein%, Fat%, Casein%)</a:t>
            </a:r>
          </a:p>
          <a:p>
            <a:pPr marL="0" indent="0">
              <a:buNone/>
            </a:pPr>
            <a:r>
              <a:rPr lang="en-US" sz="2000" dirty="0"/>
              <a:t>Udder health (SCC, conductivity)</a:t>
            </a:r>
          </a:p>
          <a:p>
            <a:pPr marL="0" indent="0">
              <a:buNone/>
            </a:pPr>
            <a:r>
              <a:rPr lang="en-US" sz="2000" dirty="0"/>
              <a:t>Metabolic health (BHBA, acetone, urea)</a:t>
            </a:r>
          </a:p>
          <a:p>
            <a:pPr marL="0" indent="0">
              <a:buNone/>
            </a:pPr>
            <a:r>
              <a:rPr lang="en-US" sz="2000" dirty="0"/>
              <a:t>Fertility (calving interval)</a:t>
            </a:r>
          </a:p>
          <a:p>
            <a:pPr marL="0" indent="0">
              <a:buNone/>
            </a:pPr>
            <a:r>
              <a:rPr lang="en-US" sz="2000" dirty="0"/>
              <a:t>Cheese properties (IAC, coagulation)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220DC-9E26-880B-6F74-4BB65491F4CD}"/>
              </a:ext>
            </a:extLst>
          </p:cNvPr>
          <p:cNvSpPr txBox="1"/>
          <p:nvPr/>
        </p:nvSpPr>
        <p:spPr>
          <a:xfrm>
            <a:off x="345057" y="224287"/>
            <a:ext cx="6159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Health production clustering</a:t>
            </a:r>
          </a:p>
        </p:txBody>
      </p:sp>
    </p:spTree>
    <p:extLst>
      <p:ext uri="{BB962C8B-B14F-4D97-AF65-F5344CB8AC3E}">
        <p14:creationId xmlns:p14="http://schemas.microsoft.com/office/powerpoint/2010/main" val="94256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17FF0B-E503-E70C-F52D-07B68C40113A}"/>
              </a:ext>
            </a:extLst>
          </p:cNvPr>
          <p:cNvSpPr txBox="1"/>
          <p:nvPr/>
        </p:nvSpPr>
        <p:spPr>
          <a:xfrm>
            <a:off x="744747" y="1055503"/>
            <a:ext cx="901460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 trait                </a:t>
            </a:r>
            <a:r>
              <a:rPr lang="en-US" sz="1050" dirty="0" err="1"/>
              <a:t>pct_complete</a:t>
            </a:r>
            <a:endParaRPr lang="en-US" sz="1050" dirty="0"/>
          </a:p>
          <a:p>
            <a:r>
              <a:rPr lang="en-US" sz="1050" dirty="0"/>
              <a:t>   &lt;chr&gt;                       &lt;</a:t>
            </a:r>
            <a:r>
              <a:rPr lang="en-US" sz="1050" dirty="0" err="1"/>
              <a:t>dbl</a:t>
            </a:r>
            <a:r>
              <a:rPr lang="en-US" sz="1050" dirty="0"/>
              <a:t>&gt;</a:t>
            </a:r>
          </a:p>
          <a:p>
            <a:r>
              <a:rPr lang="en-US" sz="1050" dirty="0"/>
              <a:t> 1 lactation                100     </a:t>
            </a:r>
          </a:p>
          <a:p>
            <a:r>
              <a:rPr lang="en-US" sz="1050" dirty="0"/>
              <a:t> 2 DIM                      100     </a:t>
            </a:r>
          </a:p>
          <a:p>
            <a:r>
              <a:rPr lang="en-US" sz="1050" dirty="0"/>
              <a:t> 3 fat                       99.8   </a:t>
            </a:r>
          </a:p>
          <a:p>
            <a:r>
              <a:rPr lang="en-US" sz="1050" dirty="0"/>
              <a:t> 4 protein                   99.8   </a:t>
            </a:r>
          </a:p>
          <a:p>
            <a:r>
              <a:rPr lang="en-US" sz="1050" dirty="0"/>
              <a:t> 5 </a:t>
            </a:r>
            <a:r>
              <a:rPr lang="en-US" sz="1050" dirty="0" err="1"/>
              <a:t>scc</a:t>
            </a:r>
            <a:r>
              <a:rPr lang="en-US" sz="1050" dirty="0"/>
              <a:t>                       99.8   </a:t>
            </a:r>
          </a:p>
          <a:p>
            <a:r>
              <a:rPr lang="en-US" sz="1050" dirty="0"/>
              <a:t> 6 </a:t>
            </a:r>
            <a:r>
              <a:rPr lang="en-US" sz="1050" dirty="0" err="1"/>
              <a:t>scc_log</a:t>
            </a:r>
            <a:r>
              <a:rPr lang="en-US" sz="1050" dirty="0"/>
              <a:t>                   99.8   </a:t>
            </a:r>
          </a:p>
          <a:p>
            <a:r>
              <a:rPr lang="en-US" sz="1050" dirty="0"/>
              <a:t> 7 </a:t>
            </a:r>
            <a:r>
              <a:rPr lang="en-US" sz="1050" dirty="0" err="1"/>
              <a:t>high_scc</a:t>
            </a:r>
            <a:r>
              <a:rPr lang="en-US" sz="1050" dirty="0"/>
              <a:t>                  99.8   </a:t>
            </a:r>
          </a:p>
          <a:p>
            <a:r>
              <a:rPr lang="en-US" sz="1050" dirty="0"/>
              <a:t> 8 casein                    99.7   </a:t>
            </a:r>
          </a:p>
          <a:p>
            <a:r>
              <a:rPr lang="en-US" sz="1050" dirty="0"/>
              <a:t> 9 </a:t>
            </a:r>
            <a:r>
              <a:rPr lang="en-US" sz="1050" dirty="0" err="1"/>
              <a:t>fat_protein_ratio</a:t>
            </a:r>
            <a:r>
              <a:rPr lang="en-US" sz="1050" dirty="0"/>
              <a:t>         99.5   </a:t>
            </a:r>
          </a:p>
          <a:p>
            <a:r>
              <a:rPr lang="en-US" sz="1050" dirty="0"/>
              <a:t>10 </a:t>
            </a:r>
            <a:r>
              <a:rPr lang="en-US" sz="1050" dirty="0" err="1"/>
              <a:t>casein_protein_ratio</a:t>
            </a:r>
            <a:r>
              <a:rPr lang="en-US" sz="1050" dirty="0"/>
              <a:t>      99.5   </a:t>
            </a:r>
          </a:p>
          <a:p>
            <a:r>
              <a:rPr lang="en-US" sz="1050" dirty="0"/>
              <a:t>11 lactose                   99.4   </a:t>
            </a:r>
          </a:p>
          <a:p>
            <a:r>
              <a:rPr lang="en-US" sz="1050" dirty="0"/>
              <a:t>12 urea                      99.2   </a:t>
            </a:r>
          </a:p>
          <a:p>
            <a:r>
              <a:rPr lang="en-US" sz="1050" dirty="0"/>
              <a:t>13 </a:t>
            </a:r>
            <a:r>
              <a:rPr lang="en-US" sz="1050" dirty="0" err="1"/>
              <a:t>bhba</a:t>
            </a:r>
            <a:r>
              <a:rPr lang="en-US" sz="1050" dirty="0"/>
              <a:t>                      87.3   </a:t>
            </a:r>
          </a:p>
          <a:p>
            <a:r>
              <a:rPr lang="en-US" sz="1050" dirty="0"/>
              <a:t>14 </a:t>
            </a:r>
            <a:r>
              <a:rPr lang="en-US" sz="1050" dirty="0" err="1"/>
              <a:t>ketosis_risk</a:t>
            </a:r>
            <a:r>
              <a:rPr lang="en-US" sz="1050" dirty="0"/>
              <a:t>              87.3   </a:t>
            </a:r>
          </a:p>
          <a:p>
            <a:r>
              <a:rPr lang="en-US" sz="1050" dirty="0"/>
              <a:t>15 </a:t>
            </a:r>
            <a:r>
              <a:rPr lang="en-US" sz="1050" dirty="0" err="1"/>
              <a:t>sfa</a:t>
            </a:r>
            <a:r>
              <a:rPr lang="en-US" sz="1050" dirty="0"/>
              <a:t>                       82.1   </a:t>
            </a:r>
          </a:p>
          <a:p>
            <a:r>
              <a:rPr lang="en-US" sz="1050" dirty="0"/>
              <a:t>16 </a:t>
            </a:r>
            <a:r>
              <a:rPr lang="en-US" sz="1050" dirty="0" err="1"/>
              <a:t>ufa</a:t>
            </a:r>
            <a:r>
              <a:rPr lang="en-US" sz="1050" dirty="0"/>
              <a:t>                       81.7   </a:t>
            </a:r>
          </a:p>
          <a:p>
            <a:r>
              <a:rPr lang="en-US" sz="1050" dirty="0"/>
              <a:t>17 </a:t>
            </a:r>
            <a:r>
              <a:rPr lang="en-US" sz="1050" dirty="0" err="1"/>
              <a:t>ufa_sfa_ratio</a:t>
            </a:r>
            <a:r>
              <a:rPr lang="en-US" sz="1050" dirty="0"/>
              <a:t>             81.4   </a:t>
            </a:r>
          </a:p>
          <a:p>
            <a:r>
              <a:rPr lang="en-US" sz="1050" dirty="0"/>
              <a:t>18 acetone                   79.2   </a:t>
            </a:r>
          </a:p>
          <a:p>
            <a:r>
              <a:rPr lang="en-US" sz="1050" dirty="0"/>
              <a:t>19 </a:t>
            </a:r>
            <a:r>
              <a:rPr lang="en-US" sz="1050" dirty="0" err="1"/>
              <a:t>ph</a:t>
            </a:r>
            <a:r>
              <a:rPr lang="en-US" sz="1050" dirty="0"/>
              <a:t>                        71.1   </a:t>
            </a:r>
          </a:p>
          <a:p>
            <a:r>
              <a:rPr lang="en-US" sz="1050" dirty="0"/>
              <a:t>20 freezing                  70.6   </a:t>
            </a:r>
          </a:p>
          <a:p>
            <a:r>
              <a:rPr lang="en-US" sz="1050" dirty="0"/>
              <a:t>21 c18_1                     67.5   </a:t>
            </a:r>
          </a:p>
          <a:p>
            <a:r>
              <a:rPr lang="en-US" sz="1050" dirty="0"/>
              <a:t>22 c18_0                     67.5   </a:t>
            </a:r>
          </a:p>
          <a:p>
            <a:r>
              <a:rPr lang="en-US" sz="1050" dirty="0"/>
              <a:t>23 rennet                    46.2   </a:t>
            </a:r>
          </a:p>
          <a:p>
            <a:r>
              <a:rPr lang="en-US" sz="1050" dirty="0"/>
              <a:t>24 k20                       45.8   </a:t>
            </a:r>
          </a:p>
          <a:p>
            <a:r>
              <a:rPr lang="en-US" sz="1050" dirty="0"/>
              <a:t>25 </a:t>
            </a:r>
            <a:r>
              <a:rPr lang="en-US" sz="1050" dirty="0" err="1"/>
              <a:t>ec</a:t>
            </a:r>
            <a:r>
              <a:rPr lang="en-US" sz="1050" dirty="0"/>
              <a:t>                        44.6   </a:t>
            </a:r>
          </a:p>
          <a:p>
            <a:r>
              <a:rPr lang="en-US" sz="1050" dirty="0"/>
              <a:t>26 a30                       43.6   </a:t>
            </a:r>
          </a:p>
          <a:p>
            <a:r>
              <a:rPr lang="en-US" sz="1050" dirty="0"/>
              <a:t>27 </a:t>
            </a:r>
            <a:r>
              <a:rPr lang="en-US" sz="1050" dirty="0" err="1"/>
              <a:t>iac</a:t>
            </a:r>
            <a:r>
              <a:rPr lang="en-US" sz="1050" dirty="0"/>
              <a:t>                       41.1   </a:t>
            </a:r>
          </a:p>
          <a:p>
            <a:r>
              <a:rPr lang="en-US" sz="1050" dirty="0"/>
              <a:t>28 </a:t>
            </a:r>
            <a:r>
              <a:rPr lang="en-US" sz="1050" dirty="0" err="1"/>
              <a:t>preformed_fa</a:t>
            </a:r>
            <a:r>
              <a:rPr lang="en-US" sz="1050" dirty="0"/>
              <a:t>              40.8   </a:t>
            </a:r>
          </a:p>
          <a:p>
            <a:r>
              <a:rPr lang="en-US" sz="1050" dirty="0"/>
              <a:t>29 </a:t>
            </a:r>
            <a:r>
              <a:rPr lang="en-US" sz="1050" dirty="0" err="1"/>
              <a:t>mixed_fa</a:t>
            </a:r>
            <a:r>
              <a:rPr lang="en-US" sz="1050" dirty="0"/>
              <a:t>                  37.8   </a:t>
            </a:r>
          </a:p>
          <a:p>
            <a:r>
              <a:rPr lang="en-US" sz="1050" dirty="0"/>
              <a:t>30 </a:t>
            </a:r>
            <a:r>
              <a:rPr lang="en-US" sz="1050" dirty="0" err="1"/>
              <a:t>newly_fa</a:t>
            </a:r>
            <a:r>
              <a:rPr lang="en-US" sz="1050" dirty="0"/>
              <a:t>                  37.8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B421D4-4169-BA50-9056-91F047DE0989}"/>
              </a:ext>
            </a:extLst>
          </p:cNvPr>
          <p:cNvSpPr txBox="1"/>
          <p:nvPr/>
        </p:nvSpPr>
        <p:spPr>
          <a:xfrm>
            <a:off x="345057" y="224287"/>
            <a:ext cx="6159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Data coverage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76206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509</Words>
  <Application>Microsoft Macintosh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Seonyeong Heo</dc:creator>
  <cp:lastModifiedBy>Seonyeong Heo</cp:lastModifiedBy>
  <cp:revision>8</cp:revision>
  <dcterms:created xsi:type="dcterms:W3CDTF">2026-02-16T07:44:28Z</dcterms:created>
  <dcterms:modified xsi:type="dcterms:W3CDTF">2026-02-16T19:34:27Z</dcterms:modified>
</cp:coreProperties>
</file>